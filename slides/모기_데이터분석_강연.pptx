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30분 동안 이 하나의 질문을 데이터로 끝까지 따라가 봅니다. 결론이 두 번 뒤집힙니다.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체감은 데이터가 아니다. 하지만 체감을 데이터로 검증할 수는 있다 — 이게 오늘의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3개 이상은 과제 요구사항이기도 하다. 5번이 오늘의 하이라이트.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데이터가 답할 수 있는 질문과 없는 질문을 먼저 구분하는 게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전처리는 지루해 보이지만 여기서 내린 결정이 뒤의 결론을 전부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결측치를 '어떻게 채웠나'가 아니라 '왜 그렇게 채워도 되는가'를 설명할 수 있어야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이동평균은 트렌드와 노이즈를 분리하는 가장 단순한 도구. p값이 크다는 건 '모른다'는 뜻이지 '변화 없다'가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계절성 그 자체. 오른쪽이 오늘의 첫 힌트 — 여름 봉우리가 낮아지고 가을이 올라왔다.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관찰과 해석을 분리하는 연습. 지금은 사실만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결정 하나가 3·4·5·7단계 결론을 전부 바꾼다. 분석의 절반은 '무엇과 비교할 것인가'다.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반전. 전체가 평평했던 건 변화가 없어서가 아니라 두 방향이 상쇄됐기 때문.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 범위를 어디로 잡느냐가 결론을 바꾼다는 걸 반드시 짚고 넘어갈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①은 기온이 아니라 계절을 재고 있었다. ②는 계절을 지우며 기온 신호까지 지웠다. ③이 정답. 오늘 강의에서 제일 중요한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모기 성장 기간 1~2주와 앞뒤가 맞는다. 비가 유충 서식지를 쓸어내는 것으로 보이지만, 이건 가설이다.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표준화 회귀계수 0.209를 학생에게 설명할 수 없다. +21%는 바로 알아듣는다. 계산은 같고 읽는 법만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반전. 속설을 기각하는 게 아니라 정확하게 쪼개는 것 — 이게 데이터 분석이 하는 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말하는 것과 측정하는 것은 다르다. R²를 제시하는 게 후자다.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안내로 넘어가기. 주제는 달라도 좋다. 중요한 건 관찰과 해석을 나누는 습관.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 분석 · 데이터 기반 트렌드 분석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5740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요즘 모기가</a:t>
            </a:r>
            <a:endParaRPr lang="en-US" sz="58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줄어든 걸까?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빨간집모기 2008~2023년, 480주의 기록으로 확인하기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120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그래프를 그리는 건 어렵지 않습니다. 어려운 건 그게 무슨 의미인지 해석하는 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늘 듣는 두 문장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"요즘 모기가 별로 없더라"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36792" y="17830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11112" y="17830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"날이 너무 더워져서 못 산대"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둘 다 그럴듯합니다. 그런데 확인된 적은 없습니다.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0624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서울시는 2008년부터 매주 유문등으로 모기를 잡아 종별 개체수를 공개해 왔습니다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기간 기상 자료를 나란히 놓으면 두 문장을 직접 검증할 수 있습니다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그 검증 과정을 일곱 단계로 따라갑니다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먼저 질문을 정합니다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열기 전에 무엇을 알고 싶은지부터 적습니다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420624" cy="420624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18379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모기는 정말 줄었는가?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715768"/>
            <a:ext cx="420624" cy="420624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26791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해 안에서 언제 많고, 그 시기가 변했는가?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557016"/>
            <a:ext cx="420624" cy="420624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3520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기온·강수·습도 중 무엇이 가장 크게 관련되는가?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85800" y="4398264"/>
            <a:ext cx="420624" cy="420624"/>
          </a:xfrm>
          <a:prstGeom prst="ellipse">
            <a:avLst/>
          </a:prstGeom>
          <a:solidFill>
            <a:srgbClr val="1626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07592" y="43616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날씨인가, 몇 주 전 날씨인가?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5239512"/>
            <a:ext cx="420624" cy="420624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239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52029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"너무 더우면 줄어든다"는 말은 맞는가?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손에 쥔 자료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유문등 채집 기록 + Open-Meteo ERA5 기상 재분석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84882" cy="1417320"/>
          </a:xfrm>
          <a:prstGeom prst="roundRect">
            <a:avLst>
              <a:gd name="adj" fmla="val 5161"/>
            </a:avLst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975104"/>
            <a:ext cx="2082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480주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615184"/>
            <a:ext cx="20825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2008~2023년 4~11월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모기·기상 결합 완료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63290" y="1828800"/>
            <a:ext cx="2484882" cy="1417320"/>
          </a:xfrm>
          <a:prstGeom prst="roundRect">
            <a:avLst>
              <a:gd name="adj" fmla="val 5161"/>
            </a:avLst>
          </a:prstGeom>
          <a:solidFill>
            <a:srgbClr val="F1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64458" y="1975104"/>
            <a:ext cx="2082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131,763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64458" y="2615184"/>
            <a:ext cx="20825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빨간집모기 누적 개체수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모기의 85.7%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828800"/>
            <a:ext cx="2484882" cy="1417320"/>
          </a:xfrm>
          <a:prstGeom prst="roundRect">
            <a:avLst>
              <a:gd name="adj" fmla="val 5161"/>
            </a:avLst>
          </a:prstGeom>
          <a:solidFill>
            <a:srgbClr val="F1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1948" y="1975104"/>
            <a:ext cx="2082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5,844일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2615184"/>
            <a:ext cx="20825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단위 기상 자료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기온·강수·습도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18270" y="1828800"/>
            <a:ext cx="2484882" cy="1417320"/>
          </a:xfrm>
          <a:prstGeom prst="roundRect">
            <a:avLst>
              <a:gd name="adj" fmla="val 5161"/>
            </a:avLst>
          </a:prstGeom>
          <a:solidFill>
            <a:srgbClr val="F1F4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19438" y="1975104"/>
            <a:ext cx="2082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16개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19438" y="2615184"/>
            <a:ext cx="20825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엑셀 시트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서식이 제각각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611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빨간집모기만 보는 이유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11480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유문등은 빛으로 유인하는 장치라 집모기류가 압도적으로 많이 잡힙니다 (85.7%)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종은 주의 55~98%가 0마리라 시계열로 다룰 수 없습니다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낮에 사람을 무는 흰줄숲모기는 16년 통틀어 477마리뿐 — 이 자료로는 "물리는 횟수"에 답할 수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부딪히는 문제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모기는 '주' 단위,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날씨는 '일' 단위입니다.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원자료에는 항상 예상 못 한 구멍이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전처리 — 결정 세 가지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1024128"/>
            <a:ext cx="1015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코드보다 판단이 중요한 단계입니다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F1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19019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시간 단위 맞추기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48716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단위 기상을 주 단위로 묶어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연·월·주차끼리 나란히 놓았습니다.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값을 더하거나 섞지 않았습니다.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F1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08576" y="19019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결측 2건, 근거로 채우기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48716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2010년 4월 1·5주는 종별 칸이 비고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'계'만 0이었습니다. 전체가 0이면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종도 0 — 산술적으로 확실합니다.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73736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F1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11896" y="19019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강수량은 하루 평균으로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11896" y="248716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5주차는 2~3일뿐이고, 480주 중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41주가 여기 해당합니다. 합계를 쓰면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41주만 작아져 없는 패턴이 생깁니다.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10817352" cy="1417320"/>
          </a:xfrm>
          <a:prstGeom prst="roundRect">
            <a:avLst>
              <a:gd name="adj" fmla="val 5161"/>
            </a:avLst>
          </a:prstGeom>
          <a:solidFill>
            <a:srgbClr val="162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6451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연도마다 채집 기간이 다릅니다 — 이게 4단계에서 문제가 됩니다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38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2009년은 10·11월 없음      2020~22년은 4월 없음      2023년은 11월 없음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그려봅시다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그래서, 모기는 줄었나요?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단순한 방법부터 시작합니다. 그냥 그려보기.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이동평균 — 노이즈를 걷어낸다</a:t>
            </a:r>
            <a:endParaRPr lang="en-US" sz="3200" dirty="0"/>
          </a:p>
        </p:txBody>
      </p:sp>
      <p:pic>
        <p:nvPicPr>
          <p:cNvPr id="5" name="Image 0" descr="/mnt/user-data/uploads/Desktop/cody3-1(new)/images/01_raw_and_moving_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708660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9244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93392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93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원자료는 0~1,401마리로 널뛰어 추세가 안 보입니다</a:t>
            </a:r>
            <a:endParaRPr lang="en-US" sz="1350" dirty="0"/>
          </a:p>
          <a:p>
            <a:pPr marL="342900" indent="-342900">
              <a:lnSpc>
                <a:spcPts val="2093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이동평균으로 깎으니 2016년 정점, 2018~21년 바닥, 최근 반등이 드러납니다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92440" y="44348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1F4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2104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 −4.05마리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0.398 — 줄었다고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말할 근거가 못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여름과 가을이 섞여 있는데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이대로 비교해도 될까요?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7월은 480마리, 4월은 25마리입니다. 계절 차이가 19배입니다.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집계 — 계절성을 먼저 파악한다</a:t>
            </a:r>
            <a:endParaRPr lang="en-US" sz="3200" dirty="0"/>
          </a:p>
        </p:txBody>
      </p:sp>
      <p:pic>
        <p:nvPicPr>
          <p:cNvPr id="5" name="Image 0" descr="/mnt/user-data/uploads/Desktop/cody3-1(new)/images/02_seasonal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81735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16년 사이, 달마다 방향이 다릅니다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전반기(2008~2015) 대비 후반기(2016~2023) 주간 평균 변화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559052" cy="1280160"/>
          </a:xfrm>
          <a:prstGeom prst="roundRect">
            <a:avLst>
              <a:gd name="adj" fmla="val 5714"/>
            </a:avLst>
          </a:prstGeom>
          <a:solidFill>
            <a:srgbClr val="F1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2066544"/>
            <a:ext cx="11567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+149%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70662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37460" y="1920240"/>
            <a:ext cx="1559052" cy="1280160"/>
          </a:xfrm>
          <a:prstGeom prst="roundRect">
            <a:avLst>
              <a:gd name="adj" fmla="val 5714"/>
            </a:avLst>
          </a:prstGeom>
          <a:solidFill>
            <a:srgbClr val="F1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38628" y="2066544"/>
            <a:ext cx="11567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+68%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38628" y="270662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1559052" cy="1280160"/>
          </a:xfrm>
          <a:prstGeom prst="roundRect">
            <a:avLst>
              <a:gd name="adj" fmla="val 5714"/>
            </a:avLst>
          </a:prstGeom>
          <a:solidFill>
            <a:srgbClr val="F1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2066544"/>
            <a:ext cx="11567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70662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1920240"/>
            <a:ext cx="1559052" cy="1280160"/>
          </a:xfrm>
          <a:prstGeom prst="roundRect">
            <a:avLst>
              <a:gd name="adj" fmla="val 5714"/>
            </a:avLst>
          </a:prstGeom>
          <a:solidFill>
            <a:srgbClr val="F1F4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1948" y="2066544"/>
            <a:ext cx="11567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−26%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441948" y="270662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920240"/>
            <a:ext cx="1559052" cy="1280160"/>
          </a:xfrm>
          <a:prstGeom prst="roundRect">
            <a:avLst>
              <a:gd name="adj" fmla="val 5714"/>
            </a:avLst>
          </a:prstGeom>
          <a:solidFill>
            <a:srgbClr val="F1F4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3608" y="2066544"/>
            <a:ext cx="11567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+24%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70662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944100" y="1920240"/>
            <a:ext cx="1559052" cy="1280160"/>
          </a:xfrm>
          <a:prstGeom prst="roundRect">
            <a:avLst>
              <a:gd name="adj" fmla="val 5714"/>
            </a:avLst>
          </a:prstGeom>
          <a:solidFill>
            <a:srgbClr val="F1F4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145268" y="2066544"/>
            <a:ext cx="11567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+57%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10145268" y="270662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11월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520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여름은 줄고, 봄과 가을은 늘었습니다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11480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관측량으로 가중한 시즌의 무게중심이 19.73주차 → 21.29주차로 밀렸습니다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1.6주, 열흘 남짓 뒤로 이동한 셈입니다</a:t>
            </a:r>
            <a:endParaRPr lang="en-US" sz="1500" dirty="0"/>
          </a:p>
          <a:p>
            <a:pPr marL="342900" indent="-342900">
              <a:lnSpc>
                <a:spcPts val="2325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여기까지는 '관찰'입니다. 왜 그런지는 아직 모릅니다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 하나의 함정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연도마다 채집한 기간이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다르다면요?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2009년엔 10·11월이 없습니다. 모기가 적은 달이 빠졌으니 그해 평균은 저절로 높아집니다.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평년 대비 지수 — 기준선을 맞춘다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1024128"/>
            <a:ext cx="1015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주를 '그 월·주차의 평년값 대비 몇 배'로 바꿉니다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1508760"/>
          </a:xfrm>
          <a:prstGeom prst="roundRect">
            <a:avLst>
              <a:gd name="adj" fmla="val 4848"/>
            </a:avLst>
          </a:prstGeom>
          <a:solidFill>
            <a:srgbClr val="F1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920240"/>
            <a:ext cx="10058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2016년 7월 3주에 800마리</a:t>
            </a:r>
            <a:pPr indent="0" marL="0">
              <a:buNone/>
            </a:pPr>
            <a:r>
              <a:rPr lang="en-US" sz="2200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÷   </a:t>
            </a:r>
            <a:pPr indent="0" marL="0">
              <a:buNone/>
            </a:pPr>
            <a:r>
              <a:rPr lang="en-US" sz="2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7월 3주 평년 534마리</a:t>
            </a:r>
            <a:pPr indent="0" marL="0">
              <a:buNone/>
            </a:pPr>
            <a:r>
              <a:rPr lang="en-US" sz="2200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pPr indent="0" marL="0">
              <a:buNone/>
            </a:pPr>
            <a:r>
              <a:rPr lang="en-US" sz="30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10789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3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4월이든 7월이든 모두 '평년 = 1.0' 기준이 되어 서로 비교할 수 있습니다</a:t>
            </a:r>
            <a:endParaRPr lang="en-US" sz="1550" dirty="0"/>
          </a:p>
          <a:p>
            <a:pPr marL="342900" indent="-342900">
              <a:lnSpc>
                <a:spcPts val="2403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기간이 다른 연도끼리도 공정하게 견줄 수 있습니다</a:t>
            </a:r>
            <a:endParaRPr lang="en-US" sz="1550" dirty="0"/>
          </a:p>
          <a:p>
            <a:pPr marL="342900" indent="-342900">
              <a:lnSpc>
                <a:spcPts val="2403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평년값을 만들 근거가 부족한 주차(5개 연도 미만)는 제외했습니다 — 480주 → 465주</a:t>
            </a:r>
            <a:endParaRPr lang="en-US" sz="1550" dirty="0"/>
          </a:p>
          <a:p>
            <a:pPr marL="342900" indent="-342900">
              <a:lnSpc>
                <a:spcPts val="2403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2개로 만든 평균을 '기준선'이라고 부를 수는 없기 때문입니다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그래서, 줄었습니까?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10817352" cy="777240"/>
          </a:xfrm>
          <a:prstGeom prst="roundRect">
            <a:avLst>
              <a:gd name="adj" fmla="val 9412"/>
            </a:avLst>
          </a:prstGeom>
          <a:solidFill>
            <a:srgbClr val="F1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48132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4~11월 전체 장기 추세  </a:t>
            </a:r>
            <a:pPr indent="0" marL="0">
              <a:buNone/>
            </a:pPr>
            <a:r>
              <a:rPr lang="en-US" sz="2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0.970</a:t>
            </a:r>
            <a:pPr indent="0" marL="0">
              <a:buNone/>
            </a:pPr>
            <a:r>
              <a:rPr lang="en-US" sz="1700" dirty="0">
                <a:solidFill>
                  <a:srgbClr val="6B7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줄었다는 근거가 없습니다</a:t>
            </a:r>
            <a:endParaRPr lang="en-US" sz="1700" dirty="0"/>
          </a:p>
        </p:txBody>
      </p:sp>
      <p:pic>
        <p:nvPicPr>
          <p:cNvPr id="7" name="Image 0" descr="/mnt/user-data/uploads/Desktop/cody3-1(new)/images/03b_summer_vs_shou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377440"/>
            <a:ext cx="93268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여기까지의 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모기는 줄지 않았습니다.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옮겨갔습니다.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여름 모기는 실제로 줄었습니다. 사람들이 모기를 의식하는 때가 한여름이니,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"요즘 모기 없다"는 체감은 틀리지 않았습니다. 다만 전체가 사라진 건 아닙니다.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6~10월만 잘라서 분석했다면 "줄었다"는 반대 결론이 나왔을 겁니다.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왜인지 봅시다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시기가 밀린 게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날씨 때문일까요?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여기서부터는 '무엇이 영향을 주는가'로 질문이 바뀝니다.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구간별 통계 — 답이 세 번 바뀝니다</a:t>
            </a:r>
            <a:endParaRPr lang="en-US" sz="3200" dirty="0"/>
          </a:p>
        </p:txBody>
      </p:sp>
      <p:pic>
        <p:nvPicPr>
          <p:cNvPr id="5" name="Image 0" descr="/mnt/user-data/uploads/Desktop/cody3-1(new)/images/04_binned_by_temper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817352" cy="3895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7424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자료, 같은 질문입니다. 바뀐 건 '무엇과 비교했는가'뿐입니다.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시계열이라서 물을 수 있는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날씨가 맞나요?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모기는 자라는 데 2주가 걸리는데.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원인은 결과보다 먼저 옵니다. 시간 축이 있는 자료에서만 확인할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시차 상관 — 몇 주 전 날씨인가</a:t>
            </a:r>
            <a:endParaRPr lang="en-US" sz="3200" dirty="0"/>
          </a:p>
        </p:txBody>
      </p:sp>
      <p:pic>
        <p:nvPicPr>
          <p:cNvPr id="5" name="Image 0" descr="/mnt/user-data/uploads/Desktop/cody3-1(new)/images/05_lag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10817352" cy="41788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943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기온은 '이번 주'가 가장 강하고(+0.188), 강수와 습도는 '2주 전'이 가장 강합니다(−0.141, −0.134).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6888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요인이 여럿인데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뭐가 제일 셀까요?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더운 주는 대체로 습하기도 합니다. 하나씩 보면 습도가 기온의 공을 가로챕니다.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75488" cy="475488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44168" y="402336"/>
            <a:ext cx="1015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회귀분석 — 계수를 %로 읽는다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1024128"/>
            <a:ext cx="1015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종속변수에 로그를 씌우고 독립변수를 표준화하면, 계수가 그대로 '몇 %'가 됩니다</a:t>
            </a:r>
            <a:endParaRPr lang="en-US" sz="1400" dirty="0"/>
          </a:p>
        </p:txBody>
      </p:sp>
      <p:pic>
        <p:nvPicPr>
          <p:cNvPr id="6" name="Image 0" descr="/mnt/user-data/uploads/Desktop/cody3-1(new)/images/06_regression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783080"/>
            <a:ext cx="8961120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속설은 절반만 맞았습니다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1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299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평년보다 따뜻한 주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3230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6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모기가 늘어납니다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947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36792" y="18288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1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56832" y="20299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폭염일(33℃↑)이 많은 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43230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모기가 줄어듭니다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37947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'따뜻함'과 '폭염'은 다른 것입니다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834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힘이 같은 주에 함께 작용하므로 '기온' 하나로 뭉뚱그리면 서로 상쇄돼 보이지 않습니다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기온의 제곱항만 넣으면 p=0.159로 아무것도 잡히지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그런데 여기서 멈춰야 합니다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분석은 자기가 모르는 것을 압니다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62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0.055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날씨로 설명되는 건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변동의 5.5%뿐입니다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8745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나머지 94.5%는 어디에?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3774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방역 활동의 강도와 시점 — 자료에 없습니다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유문등의 개수·위치·장비 변경 — 원자료에 기록이 없습니다</a:t>
            </a:r>
            <a:endParaRPr lang="en-US" sz="1450" dirty="0"/>
          </a:p>
          <a:p>
            <a:pPr marL="342900" indent="-342900">
              <a:lnSpc>
                <a:spcPts val="2248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개발에 따른 서식지 변화, 정화조·하수구 관리 상태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69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 밖의 한계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5262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채집일이 실제 날짜가 아니라 "7월 3주" 라벨이라 주차 정렬이 근사값입니다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ERA5는 격자 재분석 자료로, 유문등이 놓인 자리의 실제 기온과는 다릅니다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회귀계수는 관련성이지 인과가 아닙니다 — 오늘 말한 '왜'는 전부 가설입니다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남길 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스스로 말하지 않습니다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843784"/>
            <a:ext cx="365760" cy="36576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2788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무엇과 비교할 것인가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788920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 5구간을 세 가지로 비교했더니 답이 세 번 바뀌었습니다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범위를 어디까지 잡을 것인가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3749040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6~10월만 봤다면 "줄었다", 4~11월을 보니 "옮겨갔다"였습니다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764024"/>
            <a:ext cx="365760" cy="365760"/>
          </a:xfrm>
          <a:prstGeom prst="ellipse">
            <a:avLst/>
          </a:prstGeom>
          <a:solidFill>
            <a:srgbClr val="C0560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4709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관찰과 해석을 나눌 것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4709160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'그래프에서 본 것'과 '내가 생각하는 이유'는 다른 문장입니다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이제 여러분 차례입니다.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요즘 모기가 줄어든 걸까?</dc:title>
  <dc:subject>PptxGenJS Presentation</dc:subject>
  <dc:creator>모기 데이터 분석 강연</dc:creator>
  <cp:lastModifiedBy>모기 데이터 분석 강연</cp:lastModifiedBy>
  <cp:revision>1</cp:revision>
  <dcterms:created xsi:type="dcterms:W3CDTF">2026-09-06T11:40:32Z</dcterms:created>
  <dcterms:modified xsi:type="dcterms:W3CDTF">2026-09-06T11:40:32Z</dcterms:modified>
</cp:coreProperties>
</file>