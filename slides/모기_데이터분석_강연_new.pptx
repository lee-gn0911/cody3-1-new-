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결과 발표가 아니라 '어떻게 하는지'를 보여드립니다. 30분 동안 답이 두 번 뒤집힙니다.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체감은 데이터가 아니다. 하지만 체감을 데이터로 검증할 수는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오늘의 지도. 각 갈림길에서 3초 멈추고 학생에게 물어볼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출처를 명시하는 건 과제 요구사항이기도 하다. 라이선스도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데이터가 답할 수 있는 질문과 없는 질문을 먼저 구분하는 게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전제를 확인하지 않고 결론부터 따지는 게 흔한 실수. 2번이 그걸 막는다.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정제 구간. 지루해 보이지만 여기 판단이 뒤의 결론을 전부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info()가 '결측 0'이라고 말한다. 이 말을 믿어도 될까? — 다음 슬라이드로.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물어볼 것: '연도마다 채집 기간이 다른데 어떻게 비교하시겠어요?' 답은 12번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물어볼 것: '0마리인데 옆 칸이 418이면 어떻게 하시겠어요?' — 옆 칸이 있어서 판별이 된다는 게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물어볼 것: '이상한 값을 찾았는데 어느 쪽이 맞는지 모르면?' — 지우는 것도 자료를 만드는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줄이 이 분석의 절반. 학생이 겁먹지 않게 '이게 다입니다'라고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반전. 전체는 p=0.881로 평평한데, 나누면 여름 −35% / 봄가을 +149%. 상쇄됐던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p가 0.051, 0.053이라는 것도 정직하게 말할 것. 16개 점으로는 확정이 어렵다.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평균기온은 완만, 폭염일은 4.75일 → 11.25일로 2.4배. 둘은 다른 이야기다.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강의에서 제일 중요한 슬라이드. 왼쪽은 기온이 아니라 '여름'을 재고 있다. 3초 멈추고 물어볼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표준화 계수 0.195를 학생에게 설명할 수 없다. +19.5%는 바로 알아듣는다. 계산은 같고 읽는 법만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반전. 폭염 효과를 관대하게 믿어줘도 −1.9%. 실제는 −31.4%. 31% 중 2%를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지침의 인사이트 템플릿이 Fact/Why/Action 3단. Action이 빠지기 쉬우니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'말하는 것'과 '측정하는 것'은 다르다. R²를 제시하는 게 후자.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 제일 오래 남을 것. 실패 사례라서 그렇다.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마지막. 학생이 이 화면을 사진 찍게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 분석 · 데이터 기반 트렌드 분석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1168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요즘 모기가</a:t>
            </a:r>
            <a:endParaRPr lang="en-US" sz="58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줄어든 걸까?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297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빨간집모기 2008~2023년, 478주의 기록으로 확인하기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그래프를 그리는 건 어렵지 않습니다. 어려운 건 그게 무슨 의미인지 해석하는 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우리가 늘 듣는 두 문장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"요즘 모기가 별로 없더라"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36792" y="17830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11112" y="17830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"날이 너무 더워져서 못 산대"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둘 다 그럴듯합니다. 그런데 확인된 적은 없습니다.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06240"/>
            <a:ext cx="108173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체감이 뚜렷한 주제는 곧 검증할 것이 있는 주제입니다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서울시는 2008년부터 매주 유문등으로 모기를 잡아 종별 개체수를 공개해 왔습니다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기간 기상 자료를 나란히 놓으면 두 문장을 직접 확인할 수 있습니다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뼈대 — 답이 갈리는 네 지점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분석은 계산이 아니라 판단의 연속입니다. 오늘은 그 판단을 따라갑니다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498598" cy="2286000"/>
          </a:xfrm>
          <a:prstGeom prst="roundRect">
            <a:avLst>
              <a:gd name="adj" fmla="val 2800"/>
            </a:avLst>
          </a:prstGeom>
          <a:solidFill>
            <a:srgbClr val="F1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" y="2157984"/>
            <a:ext cx="457200" cy="45720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761488"/>
            <a:ext cx="1986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어디까지 볼까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55264"/>
            <a:ext cx="19865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4~11월 전체 vs 여름만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8718" y="1920240"/>
            <a:ext cx="2498598" cy="2286000"/>
          </a:xfrm>
          <a:prstGeom prst="roundRect">
            <a:avLst>
              <a:gd name="adj" fmla="val 2800"/>
            </a:avLst>
          </a:prstGeom>
          <a:solidFill>
            <a:srgbClr val="F1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714750" y="2157984"/>
            <a:ext cx="457200" cy="45720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1475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2761488"/>
            <a:ext cx="1986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0을 어떻게 볼까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14750" y="3255264"/>
            <a:ext cx="19865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0 vs 기록 오류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1636" y="1920240"/>
            <a:ext cx="2498598" cy="2286000"/>
          </a:xfrm>
          <a:prstGeom prst="roundRect">
            <a:avLst>
              <a:gd name="adj" fmla="val 2800"/>
            </a:avLst>
          </a:prstGeom>
          <a:solidFill>
            <a:srgbClr val="F1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7668" y="2157984"/>
            <a:ext cx="457200" cy="45720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7668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761488"/>
            <a:ext cx="1986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원자료를 믿을까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87668" y="3255264"/>
            <a:ext cx="19865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이상한 값을 발견했을 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4554" y="1920240"/>
            <a:ext cx="2498598" cy="2286000"/>
          </a:xfrm>
          <a:prstGeom prst="roundRect">
            <a:avLst>
              <a:gd name="adj" fmla="val 2800"/>
            </a:avLst>
          </a:prstGeom>
          <a:solidFill>
            <a:srgbClr val="F1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260586" y="2157984"/>
            <a:ext cx="457200" cy="45720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60586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60586" y="2761488"/>
            <a:ext cx="1986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무엇과 비교할까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60586" y="3255264"/>
            <a:ext cx="19865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기온 vs 평년 대비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5720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 지점 모두, 반대로 골랐다면 결론이 달라집니다.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1206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지점에서 먼저 여러분께 여쭙겠습니다. "여기서 어떻게 하시겠어요?"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어디서 자료를 구하나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주제라도 어디서 받느냐에 따라 할 수 있는 분석이 달라집니다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17352" cy="566928"/>
          </a:xfrm>
          <a:prstGeom prst="rect">
            <a:avLst/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2104" y="187452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58184" y="1874520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878824" y="187452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주제에는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441448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758184" y="2441448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정부·공공기관 자료가 가장 많음. 형식이 제각각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878824" y="2441448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쓸 만한 게 있지만 흩어져 있음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2441448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" y="3008376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58184" y="3008376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정제된 자료가 많아 시작이 편함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878824" y="3008376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자료가 적음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3008376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3575304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열린데이터광장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758184" y="3575304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행정 자료. 주 단위 16년치가 그대로 있음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878824" y="357530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3575304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572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서울시 보건환경연구원이 2008년부터 매주 유문등으로 채집한 모기 개체수를 종별로 공개합니다.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120640"/>
            <a:ext cx="10817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16년치 주 단위 시계열은 흔하지 않습니다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자료는 Open-Meteo의 ERA5 재분석 자료를 API로 받아 붙였습니다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자료 모두 출처 표시 조건으로 자유롭게 쓸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받았나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498598" cy="1325880"/>
          </a:xfrm>
          <a:prstGeom prst="roundRect">
            <a:avLst>
              <a:gd name="adj" fmla="val 4828"/>
            </a:avLst>
          </a:prstGeom>
          <a:solidFill>
            <a:srgbClr val="F1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56816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478주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42032"/>
            <a:ext cx="21328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2008~2023년 4~11월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모기·기상 결합 완료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58718" y="1828800"/>
            <a:ext cx="2498598" cy="1325880"/>
          </a:xfrm>
          <a:prstGeom prst="roundRect">
            <a:avLst>
              <a:gd name="adj" fmla="val 4828"/>
            </a:avLst>
          </a:prstGeom>
          <a:solidFill>
            <a:srgbClr val="F1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41598" y="1956816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131,763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3641598" y="2542032"/>
            <a:ext cx="21328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빨간집모기 누적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모기의 85.9%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1636" y="1828800"/>
            <a:ext cx="2498598" cy="1325880"/>
          </a:xfrm>
          <a:prstGeom prst="roundRect">
            <a:avLst>
              <a:gd name="adj" fmla="val 4828"/>
            </a:avLst>
          </a:prstGeom>
          <a:solidFill>
            <a:srgbClr val="F1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4516" y="1956816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5,844일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14516" y="2542032"/>
            <a:ext cx="21328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단위 기상 자료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기온·강수·습도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04554" y="1828800"/>
            <a:ext cx="2498598" cy="1325880"/>
          </a:xfrm>
          <a:prstGeom prst="roundRect">
            <a:avLst>
              <a:gd name="adj" fmla="val 4828"/>
            </a:avLst>
          </a:prstGeom>
          <a:solidFill>
            <a:srgbClr val="F1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7434" y="1956816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16개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187434" y="2542032"/>
            <a:ext cx="21328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엑셀 시트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서식이 제각각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5204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빨간집모기 한 종만 보나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023360"/>
            <a:ext cx="108173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유문등은 빛으로 유인하는 장치라 집모기류가 압도적으로 많이 잡힙니다 (85.9%)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종은 주의 55~98%가 0마리라 시계열로 다룰 수 없습니다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— 낮에 사람을 무는 흰줄숲모기는 16년 통틀어 477마리뿐입니다. 이 자료로는 "물리는 횟수"에 답할 수 없습니다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알고 싶은지부터 적습니다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열기 전에 질문을 정합니다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1626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62456" y="202082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모기는 정말 줄고 있는가?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1626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62456" y="295351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온도는 실제로 오르고 있는가?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1626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62456" y="388620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 말고 영향을 주는 것이 또 있는가?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85800" y="4855464"/>
            <a:ext cx="457200" cy="45720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62456" y="48188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"너무 더워서 여름에 줄었다"는 말은 맞는가?</a:t>
            </a:r>
            <a:endParaRPr lang="en-US" sz="19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2번이 중요합니다. "더워서 줄었다"를 따지려면 더워졌다는 전제부터 확인해야 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031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자료를 엽니다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51460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그래서, 뭐가 보이나요?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297680"/>
            <a:ext cx="9720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단순한 것부터 합니다. 그냥 그려보기.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일단 그려보고, 기본 정보를 확인합니다</a:t>
            </a:r>
            <a:endParaRPr lang="en-US" sz="3300" dirty="0"/>
          </a:p>
        </p:txBody>
      </p:sp>
      <p:pic>
        <p:nvPicPr>
          <p:cNvPr id="3" name="Image 0" descr="/mnt/user-data/uploads/Desktop/cody3-1(new)/images/01_weekly_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758952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1645920"/>
            <a:ext cx="2953512" cy="1600200"/>
          </a:xfrm>
          <a:prstGeom prst="roundRect">
            <a:avLst>
              <a:gd name="adj" fmla="val 2857"/>
            </a:avLst>
          </a:prstGeom>
          <a:solidFill>
            <a:srgbClr val="16262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69096" y="1773936"/>
            <a:ext cx="25146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478 entries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columns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Non-Null: 478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결측 0건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34290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93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0마리 ~ 1,401마리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225.5마리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275.7마리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89204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해마다 같은 봉우리가 반복되고 높이는 들쭉날쭉합니다.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정작 '16년간 늘었나 줄었나'는 안 보입니다.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7607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계절에 따른 오르내림이 너무 커서 장기 변화를 덮고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481328" cy="402336"/>
          </a:xfrm>
          <a:prstGeom prst="roundRect">
            <a:avLst>
              <a:gd name="adj" fmla="val 13636"/>
            </a:avLst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갈림길 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86584" y="384048"/>
            <a:ext cx="9116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"결측 0"을 믿어도 될까요?</a:t>
            </a:r>
            <a:endParaRPr lang="en-US" sz="3000" dirty="0"/>
          </a:p>
        </p:txBody>
      </p:sp>
      <p:pic>
        <p:nvPicPr>
          <p:cNvPr id="5" name="Image 0" descr="/mnt/user-data/uploads/Desktop/cody3-1(new)/images/02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72084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60020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아예 없는 행은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결측으로 세어지지 않습니다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606040"/>
            <a:ext cx="3502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통째로 빠진 달이 6개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2009년은 10·11월 없음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2020~22년은 4월 없음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2023년은 11월 없음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주 수도 1~5주로 제각각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01000" y="4526280"/>
            <a:ext cx="3502152" cy="128016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46817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그냥 연도별 평균을 비교하면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자료가 없어서 생긴 차이를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모기 수 변화로 읽게 됩니다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481328" cy="402336"/>
          </a:xfrm>
          <a:prstGeom prst="roundRect">
            <a:avLst>
              <a:gd name="adj" fmla="val 13636"/>
            </a:avLst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갈림길 ②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86584" y="384048"/>
            <a:ext cx="9116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0마리인 주가 8개 있습니다. 다 같은 0일까요?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24128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 칸(전체 모기 수)을 보면 성격이 갈립니다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817352" cy="475488"/>
          </a:xfrm>
          <a:prstGeom prst="rect">
            <a:avLst/>
          </a:prstGeom>
          <a:solidFill>
            <a:srgbClr val="F1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9164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672584" y="16916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빨간집모기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27064" y="169164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모기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598664" y="169164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16184" y="1691640"/>
            <a:ext cx="740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16712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4월 1·5주, 11월 4주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1671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216712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598664" y="216712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0 (초봄·늦가을)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616184" y="2167128"/>
            <a:ext cx="740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167128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264261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4월 3·4주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672584" y="2642616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27064" y="2642616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598664" y="2642616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0에 가까움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616184" y="2642616"/>
            <a:ext cx="740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2642616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" y="311810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9월 3주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672584" y="3118104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227064" y="311810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98664" y="311810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채집이 거의 안 된 주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616184" y="3118104"/>
            <a:ext cx="740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85800" y="3118104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" y="359359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6월 1주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672584" y="359359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227064" y="359359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598664" y="359359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616184" y="3593592"/>
            <a:ext cx="740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85800" y="3593592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2104" y="406908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9월 3주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672584" y="406908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227064" y="406908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598664" y="406908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 오류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616184" y="4069080"/>
            <a:ext cx="740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85800" y="4069080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46634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9월 성수기에 다른 종은 418마리가 잡혔는데, 전체의 86%를 차지하는 종만 정확히 0.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685800" y="5166360"/>
            <a:ext cx="10817352" cy="868680"/>
          </a:xfrm>
          <a:prstGeom prst="roundRect">
            <a:avLst>
              <a:gd name="adj" fmla="val 7368"/>
            </a:avLst>
          </a:prstGeom>
          <a:solidFill>
            <a:srgbClr val="F1F4F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0120" y="516636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기준 — 전체 모기가 30마리 이상인데 빨간집모기가 0인 주는 기록 오류로 보고 제외한다.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임의의 값을 채워 넣지는 않는다. 모르는 것은 모르는 채로 둔다.   480주 → 478주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481328" cy="402336"/>
          </a:xfrm>
          <a:prstGeom prst="roundRect">
            <a:avLst>
              <a:gd name="adj" fmla="val 13636"/>
            </a:avLst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갈림길 ③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86584" y="384048"/>
            <a:ext cx="9116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원자료를 믿어도 될까요?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24128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연도의 같은 주차 값이 일치하는지 120개 연도쌍을 전수 검사했습니다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4663440" cy="402336"/>
          </a:xfrm>
          <a:prstGeom prst="rect">
            <a:avLst/>
          </a:prstGeom>
          <a:solidFill>
            <a:srgbClr val="F1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935224" y="173736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215384" y="173736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213969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5월 3주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213969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15384" y="213969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139696"/>
            <a:ext cx="4663440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" y="254203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 1주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35224" y="254203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215384" y="254203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4663440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294436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 2주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935224" y="294436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215384" y="294436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2944368"/>
            <a:ext cx="4663440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" y="334670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1주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935224" y="334670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215384" y="334670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5800" y="3346704"/>
            <a:ext cx="4663440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" y="374904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2주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2935224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215384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85800" y="3749040"/>
            <a:ext cx="4663440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" y="415137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3주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935224" y="41513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822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215384" y="41513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822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85800" y="4151376"/>
            <a:ext cx="4663440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0" y="178308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2009·2010은 공통 22주 중 6주가 값까지 같습니다.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2697480"/>
            <a:ext cx="5285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119개 연도쌍은 최대 1주만 일치합니다.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638·768·822 같은 세 자리 수가 우연히 겹칠 확률은 사실상 0입니다.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217920" y="3840480"/>
            <a:ext cx="5285232" cy="1417320"/>
          </a:xfrm>
          <a:prstGeom prst="roundRect">
            <a:avLst>
              <a:gd name="adj" fmla="val 4516"/>
            </a:avLst>
          </a:prstGeom>
          <a:solidFill>
            <a:srgbClr val="F1F4F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2240" y="3968496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어떻게 했나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지우지 않았습니다. 어느 쪽이 맞는지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 수 없으니까요. 검사 결과를 파일로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남기고 리포트 한계점에 밝혔습니다.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6235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이걸 못 찾았습니다. 값을 눈으로 훑다가 사람이 발견했습니다.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계절을 걷어내는 법 — 코드는 한 줄입니다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갈림길 ①의 답. 각 주를 '그 월·주차의 평년값'으로 나눕니다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868680"/>
          </a:xfrm>
          <a:prstGeom prst="roundRect">
            <a:avLst>
              <a:gd name="adj" fmla="val 5263"/>
            </a:avLst>
          </a:prstGeom>
          <a:solidFill>
            <a:srgbClr val="1626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" y="1956816"/>
            <a:ext cx="10378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d["index"] = d.culex / d.groupby(["month", "week_of_month"]).culex.transform("mean")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10817352" cy="1051560"/>
          </a:xfrm>
          <a:prstGeom prst="roundRect">
            <a:avLst>
              <a:gd name="adj" fmla="val 6087"/>
            </a:avLst>
          </a:prstGeom>
          <a:solidFill>
            <a:srgbClr val="F1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92608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7월 3주에 800마리</a:t>
            </a:r>
            <a:pPr indent="0" marL="0">
              <a:buNone/>
            </a:pPr>
            <a:r>
              <a:rPr lang="en-US" sz="2200" dirty="0">
                <a:solidFill>
                  <a:srgbClr val="6B7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÷   </a:t>
            </a:r>
            <a:pPr indent="0" marL="0">
              <a:buNone/>
            </a:pPr>
            <a:r>
              <a:rPr lang="en-US" sz="2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7월 3주 평년 534마리</a:t>
            </a:r>
            <a:pPr indent="0" marL="0">
              <a:buNone/>
            </a:pPr>
            <a:r>
              <a:rPr lang="en-US" sz="2200" dirty="0">
                <a:solidFill>
                  <a:srgbClr val="6B7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pPr indent="0" marL="0">
              <a:buNone/>
            </a:pPr>
            <a:r>
              <a:rPr lang="en-US" sz="30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1.50배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51960"/>
            <a:ext cx="108173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4월이든 7월이든 모두 '평년 = 1.0' 기준이 되어 서로 비교할 수 있습니다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기간이 다른 연도끼리도 공정하게 견줄 수 있습니다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평년값을 만들 근거가 부족한 주차(5개 연도 미만)는 제외했습니다 — 478주 → 463주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2개로 만든 평균을 '기준선'이라고 부를 수는 없기 때문입니다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031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정제가 끝났습니다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51460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이제 네 질문에 답합니다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297680"/>
            <a:ext cx="9720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여기까지가 준비. 지금부터가 분석입니다.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1 — 모기는 정말 줄었는가</a:t>
            </a:r>
            <a:endParaRPr lang="en-US" sz="3300" dirty="0"/>
          </a:p>
        </p:txBody>
      </p:sp>
      <p:pic>
        <p:nvPicPr>
          <p:cNvPr id="3" name="Image 0" descr="/mnt/user-data/uploads/Desktop/cody3-1(new)/images/03_seasonal_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63040"/>
            <a:ext cx="8686800" cy="47731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1의 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1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모기는 줄지 않았습니다.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시기가 옮겨갔습니다.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4~11월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변화 없음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0.881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361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여름 6~8월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43616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1.17배 → 0.84배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4361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0.051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928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봄·가을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928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0.84배 → 1.16배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4928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0.053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7150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6~10월만 잘랐다면 "줄었다"는 정반대 결론이 나왔을 겁니다. — 갈림길 ①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2 — 온도는 실제로 올랐는가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"더워서 줄었다"를 따지려면 더워졌다는 전제부터 확인해야 합니다</a:t>
            </a:r>
            <a:endParaRPr lang="en-US" sz="1400" dirty="0"/>
          </a:p>
        </p:txBody>
      </p:sp>
      <p:pic>
        <p:nvPicPr>
          <p:cNvPr id="4" name="Image 0" descr="/mnt/user-data/uploads/Desktop/cody3-1(new)/images/04_temperatur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081735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481328" cy="402336"/>
          </a:xfrm>
          <a:prstGeom prst="roundRect">
            <a:avLst>
              <a:gd name="adj" fmla="val 13636"/>
            </a:avLst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갈림길 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86584" y="384048"/>
            <a:ext cx="9116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기온과 모기, 무엇과 비교할까요?</a:t>
            </a:r>
            <a:endParaRPr lang="en-US" sz="3000" dirty="0"/>
          </a:p>
        </p:txBody>
      </p:sp>
      <p:pic>
        <p:nvPicPr>
          <p:cNvPr id="5" name="Image 0" descr="/mnt/user-data/uploads/Desktop/cody3-1(new)/images/05_temperature_b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3 — 무엇이, 얼마나 영향을 주는가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종속변수에 로그를 씌우고 독립변수를 표준화하면, 계수가 그대로 '몇 %'가 됩니다</a:t>
            </a:r>
            <a:endParaRPr lang="en-US" sz="1400" dirty="0"/>
          </a:p>
        </p:txBody>
      </p:sp>
      <p:pic>
        <p:nvPicPr>
          <p:cNvPr id="4" name="Image 0" descr="/mnt/user-data/uploads/Desktop/cody3-1(new)/images/06_regression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37360"/>
            <a:ext cx="9052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4 — 그래서 "더워서 줄었다"가 맞는가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앞의 회귀는 '주 단위 날씨 변동'을 잽니다. 16년 온난화의 효과는 한 단계 더 계산해야 합니다</a:t>
            </a:r>
            <a:endParaRPr lang="en-US" sz="1400" dirty="0"/>
          </a:p>
        </p:txBody>
      </p:sp>
      <p:pic>
        <p:nvPicPr>
          <p:cNvPr id="4" name="Image 0" descr="/mnt/user-data/uploads/Desktop/cody3-1(new)/images/07_warming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37360"/>
            <a:ext cx="9601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인사이트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관찰(Fact) · 원인(Why) · 행동(Action) 세 단으로 씁니다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402336" cy="402336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874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모기는 줄지 않았다. 옮겨갔다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2313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 </a:t>
            </a:r>
            <a:pPr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여름 1.17 → 0.84배, 봄·가을 0.84 → 1.16배. 전체는 p=0.881로 변화 없음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7157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6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 </a:t>
            </a:r>
            <a:pPr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방역 일정을 여름에 몰아둔 관행을 재검토. 10~11월 강화, 4~5월 조기 개시 검토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346704"/>
            <a:ext cx="402336" cy="402336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291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"더워서 없다"는 크기가 안 맞는다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289304" y="37307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 </a:t>
            </a:r>
            <a:pPr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폭염일 2.4배 증가로 설명되는 여름 감소는 −1.9%. 실제는 −31.4%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89304" y="41330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6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 </a:t>
            </a:r>
            <a:pPr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원인 설명을 채택하기 전에 방역 예산·살충제 사용량 자료를 확보해 함께 넣어야 함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764024"/>
            <a:ext cx="402336" cy="402336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764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9304" y="4709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 대상을 맞추지 않으면 답이 뒤집힌다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51480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 </a:t>
            </a:r>
            <a:pPr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기온으로 2.0배 → 평년 대비로 26%p. 6~10월이면 "감소", 4~11월이면 "이동"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5550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6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 </a:t>
            </a:r>
            <a:pPr indent="0" marL="0">
              <a:buNone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시계열이든 '무엇과 비교하는가'를 먼저 정하고 시작할 것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여기서 멈춰야 합니다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분석은 자기가 모르는 것을 압니다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931920" cy="1920240"/>
          </a:xfrm>
          <a:prstGeom prst="roundRect">
            <a:avLst>
              <a:gd name="adj" fmla="val 3333"/>
            </a:avLst>
          </a:prstGeom>
          <a:solidFill>
            <a:srgbClr val="1626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0.050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날씨로 설명되는 건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단위 변동의 5.0%뿐입니다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8745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나머지 95%는 어디에?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3774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방역 활동의 강도와 시점 — 자료에 없음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유문등의 개수·위치·장비 변경 — 원자료에 기록이 없음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개발에 따른 서식지 변화, 정화조·하수구 관리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690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 밖의 한계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526280"/>
            <a:ext cx="1081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2009·2010년 복사 의심 6주를 그대로 두었습니다. 전반기 평균이 왜곡됐을 수 있습니다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16년은 짧습니다. 계절별·기온 추세의 p가 모두 0.05~0.10 사이입니다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회귀계수는 관련성이지 인과가 아닙니다 — 오늘 말한 '왜'는 전부 가설입니다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AI가 만든 걸 어떻게 검증했나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지침의 요구 — "생성된 코드·해석을 검증할 수 있다". 실제로 걸러낸 것들입니다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603504"/>
          </a:xfrm>
          <a:prstGeom prst="rect">
            <a:avLst/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2104" y="182880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검증한 것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032504" y="1828800"/>
            <a:ext cx="732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잡아낸 것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2432304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원자료를 눈으로 대조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32504" y="2432304"/>
            <a:ext cx="732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못 찾았다. 2009·2010년 6개 주차가 동일한 것을 사람이 발견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432304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303580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0의 성격 확인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32504" y="3035808"/>
            <a:ext cx="732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첫 코드는 2009년 9월 3주(0/418)를 실제 0으로 처리하고 있었다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035808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" y="363931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질문에 답하는지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32504" y="3639312"/>
            <a:ext cx="732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회귀 차트는 '주 단위 변동'을 재고 있었다. 우리 질문은 '16년 온난화'였다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639312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4242816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가정 점검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32504" y="4242816"/>
            <a:ext cx="732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16개 점에 HAC를 쓰니 p가 0.056 → 0.008. 소표본에서 못 믿을 값이라 제거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" y="484632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그래프를 전부 열어보기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32504" y="4846320"/>
            <a:ext cx="732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7장 중 4장을 안 열어보고 넘겼다. 축 왜곡·글자 겹침이 남아 있었다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846320"/>
            <a:ext cx="10817352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07492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빠르게 만들어 줍니다. 그런데 '이게 내 질문에 답하고 있나'는 사람만 물을 수 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18872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이제 여러분 차례입니다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116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주제는 달라도 됩니다. 순서는 같습니다.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734056"/>
            <a:ext cx="219456" cy="219456"/>
          </a:xfrm>
          <a:prstGeom prst="rect">
            <a:avLst/>
          </a:prstGeom>
          <a:solidFill>
            <a:srgbClr val="16262C"/>
          </a:solidFill>
          <a:ln w="20320">
            <a:solidFill>
              <a:srgbClr val="C056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6517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자료 1개 선정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26517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출처·기간 명시, 데이터 포인트 100개 이상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236976"/>
            <a:ext cx="219456" cy="219456"/>
          </a:xfrm>
          <a:prstGeom prst="rect">
            <a:avLst/>
          </a:prstGeom>
          <a:solidFill>
            <a:srgbClr val="16262C"/>
          </a:solidFill>
          <a:ln w="20320">
            <a:solidFill>
              <a:srgbClr val="C056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1546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질문 3개 이상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15468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열기 전에 적을 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739896"/>
            <a:ext cx="219456" cy="219456"/>
          </a:xfrm>
          <a:prstGeom prst="rect">
            <a:avLst/>
          </a:prstGeom>
          <a:solidFill>
            <a:srgbClr val="16262C"/>
          </a:solidFill>
          <a:ln w="20320">
            <a:solidFill>
              <a:srgbClr val="C056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6576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결측치·이상치 처리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365760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어떤 기준으로 처리했는지 설명할 수 있을 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242816"/>
            <a:ext cx="219456" cy="219456"/>
          </a:xfrm>
          <a:prstGeom prst="rect">
            <a:avLst/>
          </a:prstGeom>
          <a:solidFill>
            <a:srgbClr val="16262C"/>
          </a:solidFill>
          <a:ln w="20320">
            <a:solidFill>
              <a:srgbClr val="C056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1605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분석 기법 2가지 이상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416052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그 기법을 골랐는지 한 줄씩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745736"/>
            <a:ext cx="219456" cy="219456"/>
          </a:xfrm>
          <a:prstGeom prst="rect">
            <a:avLst/>
          </a:prstGeom>
          <a:solidFill>
            <a:srgbClr val="16262C"/>
          </a:solidFill>
          <a:ln w="20320">
            <a:solidFill>
              <a:srgbClr val="C056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6634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2개 이상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466344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장에 한 메시지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248656"/>
            <a:ext cx="219456" cy="219456"/>
          </a:xfrm>
          <a:prstGeom prst="rect">
            <a:avLst/>
          </a:prstGeom>
          <a:solidFill>
            <a:srgbClr val="16262C"/>
          </a:solidFill>
          <a:ln w="20320">
            <a:solidFill>
              <a:srgbClr val="C056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51663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3개 이상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5166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· 원인 · 행동 세 단으로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751576"/>
            <a:ext cx="219456" cy="219456"/>
          </a:xfrm>
          <a:prstGeom prst="rect">
            <a:avLst/>
          </a:prstGeom>
          <a:solidFill>
            <a:srgbClr val="16262C"/>
          </a:solidFill>
          <a:ln w="20320">
            <a:solidFill>
              <a:srgbClr val="C056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56692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사용 로그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566928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시켰고, 어떻게 검증했는지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요즘 모기가 줄어든 걸까?</dc:title>
  <dc:subject>PptxGenJS Presentation</dc:subject>
  <dc:creator>모기 데이터 분석 강연</dc:creator>
  <cp:lastModifiedBy>모기 데이터 분석 강연</cp:lastModifiedBy>
  <cp:revision>1</cp:revision>
  <dcterms:created xsi:type="dcterms:W3CDTF">2026-09-07T15:23:30Z</dcterms:created>
  <dcterms:modified xsi:type="dcterms:W3CDTF">2026-09-07T15:23:30Z</dcterms:modified>
</cp:coreProperties>
</file>